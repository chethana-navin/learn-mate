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Bitter Medium" panose="020B0604020202020204" charset="0"/>
      <p:regular r:id="rId15"/>
    </p:embeddedFont>
    <p:embeddedFont>
      <p:font typeface="Open Sans" panose="020B0606030504020204" pitchFamily="34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3T19:37:34.6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3T19:37:38.9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973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69169"/>
            <a:ext cx="75564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Learn Mate: A Web-based Educational Institute Management System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793790" y="207490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 Group ID – 55 (2025-Y2-S1-MLB-B3G2-05)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692956"/>
            <a:ext cx="7556421" cy="4567476"/>
          </a:xfrm>
          <a:prstGeom prst="roundRect">
            <a:avLst>
              <a:gd name="adj" fmla="val 208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1410" y="2700576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28224" y="2844284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 ID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02624" y="2844284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 Name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801410" y="3350895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28224" y="349460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IT24100300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02624" y="349460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Dulakshika A.L.S.H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1410" y="4001214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28224" y="414492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IT24100263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802624" y="414492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Dilhani W. P. K. A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801410" y="4651534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28224" y="479524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IT24100239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4802624" y="479524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Disanayaka D.M.C.N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801410" y="5301853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28224" y="544556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IT24100283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4802624" y="5445562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Devinda S. U. V</a:t>
            </a:r>
            <a:endParaRPr lang="en-US" sz="1750" dirty="0"/>
          </a:p>
        </p:txBody>
      </p:sp>
      <p:sp>
        <p:nvSpPr>
          <p:cNvPr id="21" name="Shape 18"/>
          <p:cNvSpPr/>
          <p:nvPr/>
        </p:nvSpPr>
        <p:spPr>
          <a:xfrm>
            <a:off x="801410" y="5952172"/>
            <a:ext cx="75411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28224" y="6095881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IT24100314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4802624" y="6095881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Dahanayake L.K</a:t>
            </a:r>
            <a:endParaRPr lang="en-US" sz="1750" dirty="0"/>
          </a:p>
        </p:txBody>
      </p:sp>
      <p:sp>
        <p:nvSpPr>
          <p:cNvPr id="24" name="Shape 21"/>
          <p:cNvSpPr/>
          <p:nvPr/>
        </p:nvSpPr>
        <p:spPr>
          <a:xfrm>
            <a:off x="801410" y="6602492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28224" y="674620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IT24100237</a:t>
            </a:r>
            <a:endParaRPr lang="en-US" sz="1750" dirty="0"/>
          </a:p>
        </p:txBody>
      </p:sp>
      <p:sp>
        <p:nvSpPr>
          <p:cNvPr id="26" name="Text 23"/>
          <p:cNvSpPr/>
          <p:nvPr/>
        </p:nvSpPr>
        <p:spPr>
          <a:xfrm>
            <a:off x="4802624" y="674620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Bandara R. M. G. L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2720" y="349210"/>
            <a:ext cx="1584960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2400" b="1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We'll Discuss</a:t>
            </a:r>
            <a:endParaRPr lang="en-US" sz="2400" b="1" dirty="0"/>
          </a:p>
        </p:txBody>
      </p:sp>
      <p:sp>
        <p:nvSpPr>
          <p:cNvPr id="3" name="Shape 1"/>
          <p:cNvSpPr/>
          <p:nvPr/>
        </p:nvSpPr>
        <p:spPr>
          <a:xfrm>
            <a:off x="443746" y="800695"/>
            <a:ext cx="285274" cy="285274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91311" y="824508"/>
            <a:ext cx="190143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55702" y="841891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Introduction: Addressing Educational Challenges</a:t>
            </a:r>
            <a:endParaRPr lang="en-US" sz="1600" b="1" dirty="0"/>
          </a:p>
        </p:txBody>
      </p:sp>
      <p:sp>
        <p:nvSpPr>
          <p:cNvPr id="6" name="Text 4"/>
          <p:cNvSpPr/>
          <p:nvPr/>
        </p:nvSpPr>
        <p:spPr>
          <a:xfrm>
            <a:off x="855702" y="1120735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the current landscape and problems in educational management.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3746" y="1577102"/>
            <a:ext cx="285274" cy="285274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1311" y="1600914"/>
            <a:ext cx="190143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5702" y="1629449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Overview: Learn Mate Architecture</a:t>
            </a:r>
            <a:endParaRPr lang="en-US" sz="1600" b="1" dirty="0"/>
          </a:p>
        </p:txBody>
      </p:sp>
      <p:sp>
        <p:nvSpPr>
          <p:cNvPr id="10" name="Text 8"/>
          <p:cNvSpPr/>
          <p:nvPr/>
        </p:nvSpPr>
        <p:spPr>
          <a:xfrm>
            <a:off x="855702" y="1897142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high-level look at how Learn Mate is structured and functions.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3746" y="2353508"/>
            <a:ext cx="285274" cy="285274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311" y="2377321"/>
            <a:ext cx="190143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55702" y="2394704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Functional Requirements: Core System Capabilities</a:t>
            </a:r>
            <a:endParaRPr lang="en-US" sz="1600" b="1" dirty="0"/>
          </a:p>
        </p:txBody>
      </p:sp>
      <p:sp>
        <p:nvSpPr>
          <p:cNvPr id="14" name="Text 12"/>
          <p:cNvSpPr/>
          <p:nvPr/>
        </p:nvSpPr>
        <p:spPr>
          <a:xfrm>
            <a:off x="855702" y="2673548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features and operations that Learn Mate will perform.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3746" y="3129915"/>
            <a:ext cx="285274" cy="285274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1311" y="3153728"/>
            <a:ext cx="190143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5702" y="3171111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Non-Functional Requirements: Quality Attributes</a:t>
            </a:r>
            <a:endParaRPr lang="en-US" sz="1600" b="1" dirty="0"/>
          </a:p>
        </p:txBody>
      </p:sp>
      <p:sp>
        <p:nvSpPr>
          <p:cNvPr id="18" name="Text 16"/>
          <p:cNvSpPr/>
          <p:nvPr/>
        </p:nvSpPr>
        <p:spPr>
          <a:xfrm>
            <a:off x="855702" y="3449955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Learn Mate will perform in terms of reliability, security, and usability.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746" y="3906322"/>
            <a:ext cx="285274" cy="285274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1311" y="3930134"/>
            <a:ext cx="190143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5702" y="3947517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Major Stakeholders: Who Benefits?</a:t>
            </a:r>
            <a:endParaRPr lang="en-US" sz="1600" b="1" dirty="0"/>
          </a:p>
        </p:txBody>
      </p:sp>
      <p:sp>
        <p:nvSpPr>
          <p:cNvPr id="22" name="Text 20"/>
          <p:cNvSpPr/>
          <p:nvPr/>
        </p:nvSpPr>
        <p:spPr>
          <a:xfrm>
            <a:off x="855702" y="4226362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Identifying the primary users and beneficiaries of the system.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3746" y="4682728"/>
            <a:ext cx="285274" cy="285274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311" y="4706541"/>
            <a:ext cx="190143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6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55702" y="4723924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Six Major Functions: Team Responsibilities</a:t>
            </a:r>
            <a:endParaRPr lang="en-US" sz="1600" b="1" dirty="0"/>
          </a:p>
        </p:txBody>
      </p:sp>
      <p:sp>
        <p:nvSpPr>
          <p:cNvPr id="26" name="Text 24"/>
          <p:cNvSpPr/>
          <p:nvPr/>
        </p:nvSpPr>
        <p:spPr>
          <a:xfrm>
            <a:off x="855702" y="5002768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Detailed breakdown of the system's main functionalities and development roles.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3746" y="5459135"/>
            <a:ext cx="285274" cy="285274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311" y="5482947"/>
            <a:ext cx="190143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7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55702" y="5500330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Minor Functions: Enhancing User Experience</a:t>
            </a:r>
            <a:endParaRPr lang="en-US" sz="1600" b="1" dirty="0"/>
          </a:p>
        </p:txBody>
      </p:sp>
      <p:sp>
        <p:nvSpPr>
          <p:cNvPr id="30" name="Text 28"/>
          <p:cNvSpPr/>
          <p:nvPr/>
        </p:nvSpPr>
        <p:spPr>
          <a:xfrm>
            <a:off x="855702" y="5779175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Additional features that improve overall user interaction and efficiency.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3746" y="6235541"/>
            <a:ext cx="285274" cy="285274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311" y="6259354"/>
            <a:ext cx="190143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8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55702" y="6276737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Limitations &amp; Constraints</a:t>
            </a:r>
            <a:endParaRPr lang="en-US" sz="1600" b="1" dirty="0"/>
          </a:p>
        </p:txBody>
      </p:sp>
      <p:sp>
        <p:nvSpPr>
          <p:cNvPr id="34" name="Text 32"/>
          <p:cNvSpPr/>
          <p:nvPr/>
        </p:nvSpPr>
        <p:spPr>
          <a:xfrm>
            <a:off x="855702" y="6555581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Acknowledging the boundaries and restrictions of the Learn Mate system.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3746" y="7011948"/>
            <a:ext cx="285274" cy="285274"/>
          </a:xfrm>
          <a:prstGeom prst="roundRect">
            <a:avLst>
              <a:gd name="adj" fmla="val 186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1311" y="7035760"/>
            <a:ext cx="190143" cy="23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9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55702" y="7053143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Conclusion: Value &amp; Future Outlook</a:t>
            </a:r>
            <a:endParaRPr lang="en-US" sz="1600" b="1" dirty="0"/>
          </a:p>
        </p:txBody>
      </p:sp>
      <p:sp>
        <p:nvSpPr>
          <p:cNvPr id="38" name="Text 36"/>
          <p:cNvSpPr/>
          <p:nvPr/>
        </p:nvSpPr>
        <p:spPr>
          <a:xfrm>
            <a:off x="855702" y="7331988"/>
            <a:ext cx="1333095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Summarizing Learn Mate's impact and its potential for future development.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3746" y="7677507"/>
            <a:ext cx="13742908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F83F487-7494-3999-CE21-4B9FA3C31B03}"/>
                  </a:ext>
                </a:extLst>
              </p14:cNvPr>
              <p14:cNvContentPartPr/>
              <p14:nvPr/>
            </p14:nvContentPartPr>
            <p14:xfrm>
              <a:off x="12478118" y="2843403"/>
              <a:ext cx="360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F83F487-7494-3999-CE21-4B9FA3C31B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71998" y="283728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C8BB458-C9B4-8D5E-8E05-D3CFBA929667}"/>
                  </a:ext>
                </a:extLst>
              </p14:cNvPr>
              <p14:cNvContentPartPr/>
              <p14:nvPr/>
            </p14:nvContentPartPr>
            <p14:xfrm>
              <a:off x="5943398" y="4873083"/>
              <a:ext cx="360" cy="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C8BB458-C9B4-8D5E-8E05-D3CFBA9296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37278" y="4866603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1" name="Picture 50">
            <a:extLst>
              <a:ext uri="{FF2B5EF4-FFF2-40B4-BE49-F238E27FC236}">
                <a16:creationId xmlns:a16="http://schemas.microsoft.com/office/drawing/2014/main" id="{AC808A87-5FA4-D35D-A7B5-5E27BCCE35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661873"/>
            <a:ext cx="14630400" cy="5677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6885"/>
            <a:ext cx="129588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Introduction: Addressing Educational Challenges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0929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educational institute faces challenges with scattered information, manual tasks, and lack of a centralized platform for students, teachers, and staff. This leads to delays, errors, and poor communication.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90248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8224" y="412468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390" y="4273510"/>
            <a:ext cx="306110" cy="3826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5031938"/>
            <a:ext cx="29564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Scattered Information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552235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Difficulty getting a clear overview of performance and progress.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890248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51396" y="412468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562" y="4273510"/>
            <a:ext cx="306110" cy="3826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50319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Manual Tasks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552235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Time-consuming routines like registration and timetable updates.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890248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874568" y="412468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1734" y="4273510"/>
            <a:ext cx="306110" cy="3826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5031938"/>
            <a:ext cx="28751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Communication Gaps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552235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central place for updates on schedules, grades, or payments.</a:t>
            </a:r>
            <a:endParaRPr lang="en-US" sz="17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D25793-A75D-19C0-1000-79553CD47D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661873"/>
            <a:ext cx="14630400" cy="5677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23055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68" y="1597819"/>
            <a:ext cx="8582144" cy="503491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930527" y="618053"/>
            <a:ext cx="3913346" cy="280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System Overview: Learn Mate Architecture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9930527" y="3764042"/>
            <a:ext cx="3913346" cy="179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"Learn Mate" is an integrated web application designed to centralize administrative and academic tasks, improving efficiency and communication.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930527" y="5814655"/>
            <a:ext cx="3913346" cy="1797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diagram illustrates how primary user roles interact with core modules, connecting to a MySQL database and external notification services.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CB892E-B6CC-1036-6817-C1BB7F17A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661873"/>
            <a:ext cx="14630400" cy="5677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569" y="935236"/>
            <a:ext cx="12671822" cy="665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Functional Requirements: Core System Capabilities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45569" y="2026920"/>
            <a:ext cx="6463070" cy="1613773"/>
          </a:xfrm>
          <a:prstGeom prst="roundRect">
            <a:avLst>
              <a:gd name="adj" fmla="val 6799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2709" y="2026920"/>
            <a:ext cx="91440" cy="1613773"/>
          </a:xfrm>
          <a:prstGeom prst="roundRect">
            <a:avLst>
              <a:gd name="adj" fmla="val 97844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0012" y="2262783"/>
            <a:ext cx="3426619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User &amp; Access Management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050012" y="2723317"/>
            <a:ext cx="5922764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Role-based permissions for secure login and feature access.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21642" y="2026920"/>
            <a:ext cx="6463189" cy="1613773"/>
          </a:xfrm>
          <a:prstGeom prst="roundRect">
            <a:avLst>
              <a:gd name="adj" fmla="val 6799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98782" y="2026920"/>
            <a:ext cx="91440" cy="1613773"/>
          </a:xfrm>
          <a:prstGeom prst="roundRect">
            <a:avLst>
              <a:gd name="adj" fmla="val 97844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26085" y="2262783"/>
            <a:ext cx="296263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Timetable Management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726085" y="2723317"/>
            <a:ext cx="5922883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Create, update, and publish class schedules; personalized views.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5569" y="3853696"/>
            <a:ext cx="6463070" cy="1613773"/>
          </a:xfrm>
          <a:prstGeom prst="roundRect">
            <a:avLst>
              <a:gd name="adj" fmla="val 6799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22709" y="3853696"/>
            <a:ext cx="91440" cy="1613773"/>
          </a:xfrm>
          <a:prstGeom prst="roundRect">
            <a:avLst>
              <a:gd name="adj" fmla="val 97844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0012" y="4089559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Attendance Tracking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1050012" y="4550093"/>
            <a:ext cx="5922764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Teachers mark attendance; accessible by students, parents, staff.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21642" y="3853696"/>
            <a:ext cx="6463189" cy="1613773"/>
          </a:xfrm>
          <a:prstGeom prst="roundRect">
            <a:avLst>
              <a:gd name="adj" fmla="val 6799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98782" y="3853696"/>
            <a:ext cx="91440" cy="1613773"/>
          </a:xfrm>
          <a:prstGeom prst="roundRect">
            <a:avLst>
              <a:gd name="adj" fmla="val 97844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26085" y="4089559"/>
            <a:ext cx="3458051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Exam &amp; Marks Management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7726085" y="4550093"/>
            <a:ext cx="5922883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Teachers enter grades; students/parents view results securely.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45569" y="5680472"/>
            <a:ext cx="6463070" cy="1613773"/>
          </a:xfrm>
          <a:prstGeom prst="roundRect">
            <a:avLst>
              <a:gd name="adj" fmla="val 6799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2709" y="5680472"/>
            <a:ext cx="91440" cy="1613773"/>
          </a:xfrm>
          <a:prstGeom prst="roundRect">
            <a:avLst>
              <a:gd name="adj" fmla="val 97844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0012" y="5916335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Fee Processing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050012" y="6376868"/>
            <a:ext cx="5922764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manages records; parents view balances and pay online.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421642" y="5680472"/>
            <a:ext cx="6463189" cy="1613773"/>
          </a:xfrm>
          <a:prstGeom prst="roundRect">
            <a:avLst>
              <a:gd name="adj" fmla="val 6799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98782" y="5680472"/>
            <a:ext cx="91440" cy="1613773"/>
          </a:xfrm>
          <a:prstGeom prst="roundRect">
            <a:avLst>
              <a:gd name="adj" fmla="val 97844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26085" y="5916335"/>
            <a:ext cx="439269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Communication &amp; Announcements</a:t>
            </a:r>
            <a:endParaRPr lang="en-US" sz="2050" dirty="0"/>
          </a:p>
        </p:txBody>
      </p:sp>
      <p:sp>
        <p:nvSpPr>
          <p:cNvPr id="26" name="Text 24"/>
          <p:cNvSpPr/>
          <p:nvPr/>
        </p:nvSpPr>
        <p:spPr>
          <a:xfrm>
            <a:off x="7726085" y="6376868"/>
            <a:ext cx="5922883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for messages and announcements to specific user groups.</a:t>
            </a:r>
            <a:endParaRPr lang="en-US" sz="16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D722F3F-23FE-4EB7-958C-807AF8D1A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61873"/>
            <a:ext cx="14630400" cy="5677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8661" y="1219914"/>
            <a:ext cx="11868626" cy="641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Non-Functional Requirements: Quality Attributes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8661" y="2272308"/>
            <a:ext cx="1319307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attributes ensure a positive user experience and a robust system.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8661" y="3139797"/>
            <a:ext cx="4260771" cy="1842611"/>
          </a:xfrm>
          <a:prstGeom prst="roundRect">
            <a:avLst>
              <a:gd name="adj" fmla="val 5955"/>
            </a:avLst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8661" y="3116937"/>
            <a:ext cx="4260771" cy="91440"/>
          </a:xfrm>
          <a:prstGeom prst="roundRect">
            <a:avLst>
              <a:gd name="adj" fmla="val 94318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41091" y="2831902"/>
            <a:ext cx="615910" cy="615910"/>
          </a:xfrm>
          <a:prstGeom prst="roundRect">
            <a:avLst>
              <a:gd name="adj" fmla="val 148463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25876" y="2985849"/>
            <a:ext cx="246340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46785" y="3653076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Performance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46785" y="4097060"/>
            <a:ext cx="3804523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pages load under 3 seconds; data submission is instant.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84696" y="3139797"/>
            <a:ext cx="4260890" cy="1842611"/>
          </a:xfrm>
          <a:prstGeom prst="roundRect">
            <a:avLst>
              <a:gd name="adj" fmla="val 5955"/>
            </a:avLst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84696" y="3116937"/>
            <a:ext cx="4260890" cy="91440"/>
          </a:xfrm>
          <a:prstGeom prst="roundRect">
            <a:avLst>
              <a:gd name="adj" fmla="val 94318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07126" y="2831902"/>
            <a:ext cx="615910" cy="615910"/>
          </a:xfrm>
          <a:prstGeom prst="roundRect">
            <a:avLst>
              <a:gd name="adj" fmla="val 148463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91911" y="2985849"/>
            <a:ext cx="246340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12819" y="3653076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Usability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12819" y="4097060"/>
            <a:ext cx="3804642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Clean, simple interface; easy navigation without extensive training.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50849" y="3139797"/>
            <a:ext cx="4260890" cy="1842611"/>
          </a:xfrm>
          <a:prstGeom prst="roundRect">
            <a:avLst>
              <a:gd name="adj" fmla="val 5955"/>
            </a:avLst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650849" y="3116937"/>
            <a:ext cx="4260890" cy="91440"/>
          </a:xfrm>
          <a:prstGeom prst="roundRect">
            <a:avLst>
              <a:gd name="adj" fmla="val 94318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473279" y="2831902"/>
            <a:ext cx="615910" cy="615910"/>
          </a:xfrm>
          <a:prstGeom prst="roundRect">
            <a:avLst>
              <a:gd name="adj" fmla="val 148463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658064" y="2985849"/>
            <a:ext cx="246340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878973" y="3653076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Security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878973" y="4097060"/>
            <a:ext cx="3804642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authentication, encrypted passwords, strict role-based access.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8661" y="5495568"/>
            <a:ext cx="6493907" cy="1513999"/>
          </a:xfrm>
          <a:prstGeom prst="roundRect">
            <a:avLst>
              <a:gd name="adj" fmla="val 7248"/>
            </a:avLst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8661" y="5472708"/>
            <a:ext cx="6493907" cy="91440"/>
          </a:xfrm>
          <a:prstGeom prst="roundRect">
            <a:avLst>
              <a:gd name="adj" fmla="val 94318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60" y="5187672"/>
            <a:ext cx="615910" cy="615910"/>
          </a:xfrm>
          <a:prstGeom prst="roundRect">
            <a:avLst>
              <a:gd name="adj" fmla="val 148463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2445" y="5341620"/>
            <a:ext cx="246340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46785" y="6008846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Compatibility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46785" y="6452830"/>
            <a:ext cx="6037659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Functions on modern web browsers (Chrome, Firefox, Edge).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17832" y="5495568"/>
            <a:ext cx="6493907" cy="1513999"/>
          </a:xfrm>
          <a:prstGeom prst="roundRect">
            <a:avLst>
              <a:gd name="adj" fmla="val 7248"/>
            </a:avLst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17832" y="5472708"/>
            <a:ext cx="6493907" cy="91440"/>
          </a:xfrm>
          <a:prstGeom prst="roundRect">
            <a:avLst>
              <a:gd name="adj" fmla="val 94318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356830" y="5187672"/>
            <a:ext cx="615910" cy="615910"/>
          </a:xfrm>
          <a:prstGeom prst="roundRect">
            <a:avLst>
              <a:gd name="adj" fmla="val 148463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541615" y="5341620"/>
            <a:ext cx="246340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645956" y="6008846"/>
            <a:ext cx="2566749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Cross-platform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645956" y="6452830"/>
            <a:ext cx="6037659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Smooth operation on desktops, tablets, and smartphones.</a:t>
            </a:r>
            <a:endParaRPr lang="en-US" sz="16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A5A7A2E-73C4-F53C-DB48-CB0B967B7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61873"/>
            <a:ext cx="14630400" cy="5677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4617"/>
            <a:ext cx="91856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Major Stakeholders: Who Benefits?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070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"Learn Mate" system serves diverse users, each with unique needs.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25078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2659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Director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3150156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Monitors overall performance via summary reports.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525078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8" y="2659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Admin Staff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307348" y="3150156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Manages operations: registrations, timetables, fees, announcements.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329589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4464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Teachers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644253" y="4954667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management: attendance, grades, materials, communication.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4329589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8" y="4464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Students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307348" y="4954667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Checks timetables, views grades/attendance, receives updates.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134100"/>
            <a:ext cx="566976" cy="5669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44253" y="62687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Parents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1644253" y="6759178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Monitors child's progress, tracks attendance, pays fees online.</a:t>
            </a:r>
            <a:endParaRPr lang="en-US" sz="17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6884" y="6134100"/>
            <a:ext cx="566976" cy="56697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307348" y="6268760"/>
            <a:ext cx="31720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Student Support Officer</a:t>
            </a:r>
            <a:endParaRPr lang="en-US" sz="2200" dirty="0"/>
          </a:p>
        </p:txBody>
      </p:sp>
      <p:sp>
        <p:nvSpPr>
          <p:cNvPr id="21" name="Text 13"/>
          <p:cNvSpPr/>
          <p:nvPr/>
        </p:nvSpPr>
        <p:spPr>
          <a:xfrm>
            <a:off x="8307348" y="6759178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at-risk students for timely intervention.</a:t>
            </a:r>
            <a:endParaRPr lang="en-US" sz="1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9694899-A0B1-99C1-1FA6-E0696FCE3E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7661873"/>
            <a:ext cx="14630400" cy="5677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9748"/>
            <a:ext cx="112658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Six Major Functions: Team Responsibilities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2155"/>
            <a:ext cx="13042821" cy="5387697"/>
          </a:xfrm>
          <a:prstGeom prst="roundRect">
            <a:avLst>
              <a:gd name="adj" fmla="val 1768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1410" y="2009775"/>
            <a:ext cx="6513790" cy="1669852"/>
          </a:xfrm>
          <a:prstGeom prst="roundRect">
            <a:avLst>
              <a:gd name="adj" fmla="val 5705"/>
            </a:avLst>
          </a:prstGeom>
          <a:solidFill>
            <a:srgbClr val="FCE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224" y="22365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User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2727008"/>
            <a:ext cx="60601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Dulakshika A.L.S.H: Creates and manages all user accounts, assigns roles, ensures secure logins.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315200" y="2009775"/>
            <a:ext cx="6513790" cy="1669852"/>
          </a:xfrm>
          <a:prstGeom prst="rect">
            <a:avLst/>
          </a:prstGeom>
          <a:solidFill>
            <a:srgbClr val="FCE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0" y="2009775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2014" y="2236589"/>
            <a:ext cx="41386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Class &amp; Timetable Management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42014" y="2727008"/>
            <a:ext cx="60601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Bandara R. M. G. L: Automates scheduling, provides interface for admin to create/publish timetables.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3679627"/>
            <a:ext cx="6513790" cy="1669852"/>
          </a:xfrm>
          <a:prstGeom prst="rect">
            <a:avLst/>
          </a:prstGeom>
          <a:solidFill>
            <a:srgbClr val="FCE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1410" y="3679627"/>
            <a:ext cx="6513790" cy="30480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Attendance Tracking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4396859"/>
            <a:ext cx="60601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Dilhani W. P. K. A: Digitizes attendance recording for teachers, centralizes data for viewing.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315200" y="3679627"/>
            <a:ext cx="6513790" cy="1669852"/>
          </a:xfrm>
          <a:prstGeom prst="rect">
            <a:avLst/>
          </a:prstGeom>
          <a:solidFill>
            <a:srgbClr val="FCE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0" y="3679627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0" y="3679627"/>
            <a:ext cx="6513790" cy="30480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42014" y="3906441"/>
            <a:ext cx="38164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Exams &amp; Marks Management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42014" y="4396859"/>
            <a:ext cx="60601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Dahanayake L.K: Centralizes assessment, allows teachers to enter marks, students/parents view results.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349478"/>
            <a:ext cx="6513790" cy="2032754"/>
          </a:xfrm>
          <a:prstGeom prst="rect">
            <a:avLst/>
          </a:prstGeom>
          <a:solidFill>
            <a:srgbClr val="FCE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1410" y="5349478"/>
            <a:ext cx="6513790" cy="30480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8224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Fee Management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28224" y="6066711"/>
            <a:ext cx="60601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Devinda S. U. V: Simplifies fee collection, tracks payments, sends reminders, provides online payment portal.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315200" y="5349478"/>
            <a:ext cx="6513790" cy="2032754"/>
          </a:xfrm>
          <a:prstGeom prst="rect">
            <a:avLst/>
          </a:prstGeom>
          <a:solidFill>
            <a:srgbClr val="FCE2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0" y="5349478"/>
            <a:ext cx="30480" cy="2032754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0" y="5349478"/>
            <a:ext cx="6513790" cy="30480"/>
          </a:xfrm>
          <a:prstGeom prst="roundRect">
            <a:avLst>
              <a:gd name="adj" fmla="val 312558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42014" y="5576292"/>
            <a:ext cx="41905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Communication &amp; Notifications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542014" y="6066711"/>
            <a:ext cx="60601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Disanayaka D.M.C.N: Central hub for announcements, messages, and automated alerts to users.</a:t>
            </a:r>
            <a:endParaRPr lang="en-US" sz="17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27A7E09-BC12-77DD-58A0-62F45B8C0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61873"/>
            <a:ext cx="14630400" cy="5677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620" y="604718"/>
            <a:ext cx="11568351" cy="687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Minor Functions: Enhancing User Experience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69620" y="1848267"/>
            <a:ext cx="109895" cy="109895"/>
          </a:xfrm>
          <a:prstGeom prst="roundRect">
            <a:avLst>
              <a:gd name="adj" fmla="val 416033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9304" y="1731526"/>
            <a:ext cx="3275409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User Profile Management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099304" y="2207062"/>
            <a:ext cx="1276147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can view and update personal information, ensuring data accuracy.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9620" y="3115330"/>
            <a:ext cx="109895" cy="109895"/>
          </a:xfrm>
          <a:prstGeom prst="roundRect">
            <a:avLst>
              <a:gd name="adj" fmla="val 416033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9304" y="2998589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Password Reset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099304" y="3474125"/>
            <a:ext cx="1276147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Self-service option via registered email, reducing admin burden.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9620" y="4382393"/>
            <a:ext cx="109895" cy="109895"/>
          </a:xfrm>
          <a:prstGeom prst="roundRect">
            <a:avLst>
              <a:gd name="adj" fmla="val 416033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9304" y="4265652"/>
            <a:ext cx="3244334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Search and Filter Options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099304" y="4741188"/>
            <a:ext cx="1276147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Basic search functionality for quick information retrieval (e.g., student records, announcements).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69620" y="5649456"/>
            <a:ext cx="109895" cy="109895"/>
          </a:xfrm>
          <a:prstGeom prst="roundRect">
            <a:avLst>
              <a:gd name="adj" fmla="val 416033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9304" y="5532715"/>
            <a:ext cx="4461629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Downloadable Reports/Documents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1099304" y="6008251"/>
            <a:ext cx="1276147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can download fee receipts or mark sheets in PDF format.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69620" y="6916519"/>
            <a:ext cx="109895" cy="109895"/>
          </a:xfrm>
          <a:prstGeom prst="roundRect">
            <a:avLst>
              <a:gd name="adj" fmla="val 416033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9304" y="6799778"/>
            <a:ext cx="2748796" cy="34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Notification History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099304" y="7275314"/>
            <a:ext cx="12761476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Dedicated section to view past notifications and announcements.</a:t>
            </a:r>
            <a:endParaRPr lang="en-US" sz="17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5069D2-D1F7-D467-F0EA-7F1EACD5E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61873"/>
            <a:ext cx="14630400" cy="5677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296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System Limitations &amp; Constraints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847499"/>
            <a:ext cx="344650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Technical Constraints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499604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Stack: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Java-based web application with MySQL database.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667607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External Dependencies: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Notification system relies on third-party APIs.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835610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Offline Functionality: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Requires constant internet connection.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284749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Project Constraints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10342721" y="3499604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Development Timeline: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Strictly time-bound to 14-week semester.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4667607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Defined Scope: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Limited to six major functions; no advanced features like mobile app or e-learning.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6198513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080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 Institute Focus: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 designed as a multi-tenant application.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2720C0-C6D9-8E4E-792F-4AEB7A9CD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61873"/>
            <a:ext cx="14630400" cy="5677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8643"/>
            <a:ext cx="93261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Conclusion: Value &amp; Future Outlook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9105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"Learn Mate" addresses operational and communication challenges by centralizing processes, automating tasks, and providing immediate access to information.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72007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8224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Efficiency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39685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Automates administrative tasks, saving time and reducing errors.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672007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51396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Transparency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4396859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Empowers students and parents with immediate access to information.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672007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4568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Connection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439685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teachers with powerful academic management tools.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597515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team has a clear understanding of requirements and a realistic 14-week development plan, ensuring substantial value and a strong foundation for future digital initiatives.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3AEBCB-9344-B978-F38B-E22CE8530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61873"/>
            <a:ext cx="14630400" cy="5677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4491" y="2997637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8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Thank You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793790" y="48689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appreciate your time and interest in Learn Mate.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AA9C6C-4D85-2A42-DC2E-4093C5F33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61873"/>
            <a:ext cx="14630400" cy="5677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1038</Words>
  <Application>Microsoft Office PowerPoint</Application>
  <PresentationFormat>Custom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Open Sans</vt:lpstr>
      <vt:lpstr>Bitter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Dahanayake L.K IT24100314</cp:lastModifiedBy>
  <cp:revision>4</cp:revision>
  <dcterms:created xsi:type="dcterms:W3CDTF">2025-08-13T16:29:36Z</dcterms:created>
  <dcterms:modified xsi:type="dcterms:W3CDTF">2025-08-13T19:47:41Z</dcterms:modified>
</cp:coreProperties>
</file>